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A73E8"/>
                </a:solidFill>
                <a:latin typeface="Calibri"/>
              </a:rPr>
              <a:t>FuncRecover: High-Level Pipeline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11612880" cy="1600200"/>
          </a:xfrm>
          <a:prstGeom prst="roundRect">
            <a:avLst>
              <a:gd name="adj" fmla="val 10000"/>
            </a:avLst>
          </a:prstGeom>
          <a:solidFill>
            <a:srgbClr val="EFEBE9"/>
          </a:solidFill>
          <a:ln w="254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D4037"/>
                </a:solidFill>
                <a:latin typeface="Calibri"/>
              </a:rPr>
              <a:t>1  Acquisition, Preprocessing &amp; CFG 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EFEBE9"/>
          </a:solidFill>
          <a:ln w="190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Source
Packages
(40 pkgs)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1554480"/>
            <a:ext cx="228600" cy="274320"/>
          </a:xfrm>
          <a:prstGeom prst="rightArrow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8920" y="118872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EFEBE9"/>
          </a:solidFill>
          <a:ln w="190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Compile
(O0, O2)
363 binaries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80" y="1554480"/>
            <a:ext cx="228600" cy="274320"/>
          </a:xfrm>
          <a:prstGeom prst="rightArrow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EFEBE9"/>
          </a:solidFill>
          <a:ln w="190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BAP 2.5
IR Lifting
(.bir files)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60" y="1554480"/>
            <a:ext cx="228600" cy="274320"/>
          </a:xfrm>
          <a:prstGeom prst="rightArrow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118872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EFEBE9"/>
          </a:solidFill>
          <a:ln w="190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V3 Tokenization
1,510 types
(semantic)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35440" y="1554480"/>
            <a:ext cx="228600" cy="274320"/>
          </a:xfrm>
          <a:prstGeom prst="rightArrow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118872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EFEBE9"/>
          </a:solidFill>
          <a:ln w="190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CFG + Labels
+ External Calls
87,724 functions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560320"/>
            <a:ext cx="11612880" cy="219456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897B"/>
                </a:solidFill>
                <a:latin typeface="Calibri"/>
              </a:rPr>
              <a:t>2  Encoder + Multi-Context Fusion (25M params)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Stage 1: Block Encoder
Transformer 4L/8H/256d
b_i per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9923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F9D58"/>
                </a:solidFill>
                <a:latin typeface="Calibri"/>
              </a:rPr>
              <a:t>STAGE 1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54680" y="3291840"/>
            <a:ext cx="27432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301752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Stage 2: Graph Encoder
GAT 3L/8H + Attn Pooling
f ∈ R^1024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9923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B1FA2"/>
                </a:solidFill>
                <a:latin typeface="Calibri"/>
              </a:rPr>
              <a:t>STAGE 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80760" y="3291840"/>
            <a:ext cx="27432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880360"/>
            <a:ext cx="5212080" cy="100584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07792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897B"/>
                </a:solidFill>
                <a:latin typeface="Calibri"/>
              </a:rPr>
              <a:t>Cascaded Gated 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32004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2D2D"/>
                </a:solidFill>
                <a:latin typeface="Calibri"/>
              </a:rPr>
              <a:t>Gate 1
Ext Calls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001000" y="338328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004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2D2D"/>
                </a:solidFill>
                <a:latin typeface="Calibri"/>
              </a:rPr>
              <a:t>Gate 2
Callees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92640" y="338328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40" y="32004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2D2D"/>
                </a:solidFill>
                <a:latin typeface="Calibri"/>
              </a:rPr>
              <a:t>Gate 3
Callers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93192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1">
                <a:solidFill>
                  <a:srgbClr val="00897B"/>
                </a:solidFill>
                <a:latin typeface="Calibri"/>
              </a:rPr>
              <a:t>--- conditional bypass: if no context, z = f (skip gate) ---&gt;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1384280" y="3383280"/>
            <a:ext cx="182880" cy="182880"/>
          </a:xfrm>
          <a:prstGeom prst="right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0" y="3703320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897B"/>
                </a:solidFill>
                <a:latin typeface="Calibri"/>
              </a:rPr>
              <a:t>z ∈ R^1024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892040"/>
            <a:ext cx="11612880" cy="1691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2540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937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93B25"/>
                </a:solidFill>
                <a:latin typeface="Calibri"/>
              </a:rPr>
              <a:t>3  Inference &amp;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0352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93B25"/>
                </a:solidFill>
                <a:latin typeface="Calibri"/>
              </a:rPr>
              <a:t>z 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5349240"/>
            <a:ext cx="2286000" cy="59436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905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GRU Decoder
Beam Search k=5
→ Function 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8932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03F9F"/>
                </a:solidFill>
                <a:latin typeface="Calibri"/>
              </a:rPr>
              <a:t>z 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598932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E8EAF6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k-NN Retrieval
k=1, cosine sim → Name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0" y="5349240"/>
            <a:ext cx="3657600" cy="11430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190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Evaluation Metrics
Sub-token F1  |  Exact Match
Edit Similarity  |  N-gram Similarity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34924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A73E8"/>
                </a:solidFill>
                <a:latin typeface="Calibri"/>
              </a:rPr>
              <a:t>Best Results (Exp 36 + k-NN)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Test:  EM=76.3%  F1=0.804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Demo: EM=55.1%  F1=0.625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Diffutils: 69.9% EM (unseen)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999999"/>
                </a:solidFill>
                <a:latin typeface="Calibri"/>
              </a:rPr>
              <a:t>87,724 training functions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F9D58"/>
                </a:solidFill>
                <a:latin typeface="Calibri"/>
              </a:rPr>
              <a:t>Stage 1: Block Encoder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47120" cy="100584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9D58"/>
                </a:solidFill>
                <a:latin typeface="Calibri"/>
              </a:rPr>
              <a:t>Input: V3 instruction-type tokens (one basic block)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9D58"/>
                </a:solidFill>
                <a:latin typeface="Calibri"/>
              </a:rPr>
              <a:t>CALL_malloc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3258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9D58"/>
                </a:solidFill>
                <a:latin typeface="Calibri"/>
              </a:rPr>
              <a:t>MEM_READ_32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258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9D58"/>
                </a:solidFill>
                <a:latin typeface="Calibri"/>
              </a:rPr>
              <a:t>ARITH_ADD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2588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9D58"/>
                </a:solidFill>
                <a:latin typeface="Calibri"/>
              </a:rPr>
              <a:t>STACK_STORE_64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3258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9D58"/>
                </a:solidFill>
                <a:latin typeface="Calibri"/>
              </a:rPr>
              <a:t>RETURN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486400" y="1965960"/>
            <a:ext cx="320040" cy="365760"/>
          </a:xfrm>
          <a:prstGeom prst="downArrow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2331720"/>
            <a:ext cx="548640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D2D2D"/>
                </a:solidFill>
                <a:latin typeface="Calibri"/>
              </a:rPr>
              <a:t>Token Embedding: 2,279 x 256d  +  Sinusoidal Positional Encoding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486400" y="2971800"/>
            <a:ext cx="320040" cy="365760"/>
          </a:xfrm>
          <a:prstGeom prst="downArrow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383280"/>
            <a:ext cx="5486400" cy="77724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D2D2D"/>
                </a:solidFill>
                <a:latin typeface="Calibri"/>
              </a:rPr>
              <a:t>Transformer Encoder
4 Layers  |  8 Attention Heads  |  FFN dim=512  |  Dropout=0.15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486400" y="4206240"/>
            <a:ext cx="320040" cy="365760"/>
          </a:xfrm>
          <a:prstGeom prst="downArrow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457200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D2D2D"/>
                </a:solidFill>
                <a:latin typeface="Calibri"/>
              </a:rPr>
              <a:t>Mean Pooling over all tokens in block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486400" y="5120640"/>
            <a:ext cx="320040" cy="365760"/>
          </a:xfrm>
          <a:prstGeom prst="downArrow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55778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b_i ∈ R^512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999999"/>
                </a:solidFill>
                <a:latin typeface="Calibri"/>
              </a:rPr>
              <a:t>One embedding per basic block, regardless of token count. Pretrained via MLM (mask 15% of tokens, predict them).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7B1FA2"/>
                </a:solidFill>
                <a:latin typeface="Calibri"/>
              </a:rPr>
              <a:t>Stage 2: Graph Encoder (GAT over CFG)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7B1FA2"/>
                </a:solidFill>
                <a:latin typeface="Calibri"/>
              </a:rPr>
              <a:t>Control Flow Graph (CFG)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B1FA2"/>
                </a:solidFill>
                <a:latin typeface="Calibri"/>
              </a:rPr>
              <a:t>b1: COMPARE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B1FA2"/>
                </a:solidFill>
                <a:latin typeface="Calibri"/>
              </a:rPr>
              <a:t>b2: ARITH_ADD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46888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B1FA2"/>
                </a:solidFill>
                <a:latin typeface="Calibri"/>
              </a:rPr>
              <a:t>b3: CALL_malloc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B1FA2"/>
                </a:solidFill>
                <a:latin typeface="Calibri"/>
              </a:rPr>
              <a:t>b4: MEM_WRITE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56616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B1FA2"/>
                </a:solidFill>
                <a:latin typeface="Calibri"/>
              </a:rPr>
              <a:t>b5: RETURN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600200" y="1828800"/>
            <a:ext cx="914400" cy="64008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14600" y="1828800"/>
            <a:ext cx="914400" cy="64008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00200" y="2926080"/>
            <a:ext cx="0" cy="64008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600200" y="2926080"/>
            <a:ext cx="1828800" cy="64008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29000" y="2926080"/>
            <a:ext cx="0" cy="64008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89120" y="8229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7B1FA2"/>
                </a:solidFill>
                <a:latin typeface="Calibri"/>
              </a:rPr>
              <a:t>Graph Attention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GAT Layer 1 (8 heads)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760720" y="1965960"/>
            <a:ext cx="274320" cy="182880"/>
          </a:xfrm>
          <a:prstGeom prst="downArrow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219456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GAT Layer 2 (8 heads)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760720" y="2788920"/>
            <a:ext cx="274320" cy="182880"/>
          </a:xfrm>
          <a:prstGeom prst="downArrow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301752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GAT Layer 3 (8 heads)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760720" y="3977640"/>
            <a:ext cx="274320" cy="274320"/>
          </a:xfrm>
          <a:prstGeom prst="downArrow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6240" y="425196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29768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7B1FA2"/>
                </a:solidFill>
                <a:latin typeface="Calibri"/>
              </a:rPr>
              <a:t>Attention Pooling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262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s_i = MLP(b'_i),  α_i = softmax(s_i)
f = Σ α_i · b'_i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8229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7B1FA2"/>
                </a:solidFill>
                <a:latin typeface="Calibri"/>
              </a:rPr>
              <a:t>Learned Attention Weights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1371600"/>
            <a:ext cx="1920240" cy="4114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B1FA2"/>
                </a:solidFill>
                <a:latin typeface="Calibri"/>
              </a:rPr>
              <a:t>b'3 (CALL_malloc)  α = 0.42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965960"/>
            <a:ext cx="1280160" cy="4114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B1FA2"/>
                </a:solidFill>
                <a:latin typeface="Calibri"/>
              </a:rPr>
              <a:t>b'5 (RETURN)  α = 0.28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560320"/>
            <a:ext cx="685800" cy="4114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99999"/>
                </a:solidFill>
                <a:latin typeface="Calibri"/>
              </a:rPr>
              <a:t>b'1 (COMPARE)  α = 0.15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154680"/>
            <a:ext cx="411479" cy="4114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99999"/>
                </a:solidFill>
                <a:latin typeface="Calibri"/>
              </a:rPr>
              <a:t>b'4 (MEM_WRITE)  α = 0.09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749040"/>
            <a:ext cx="274320" cy="4114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99999"/>
                </a:solidFill>
                <a:latin typeface="Calibri"/>
              </a:rPr>
              <a:t>b'2 (ARITH_ADD)  α = 0.06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760720" y="5074920"/>
            <a:ext cx="274320" cy="274320"/>
          </a:xfrm>
          <a:prstGeom prst="downArrow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46320" y="544068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 ∈ R^1024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999999"/>
                </a:solidFill>
                <a:latin typeface="Calibri"/>
              </a:rPr>
              <a:t>GAT learns which blocks are most informative for naming. Blocks with distinctive calls (malloc, printf) receive higher attention.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897B"/>
                </a:solidFill>
                <a:latin typeface="Calibri"/>
              </a:rPr>
              <a:t>Multi-Context Gated Fusion (Key Innovation)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From Stage 2: f ∈ R^1024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08760"/>
            <a:ext cx="11612880" cy="141732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7C00"/>
                </a:solidFill>
                <a:latin typeface="Calibri"/>
              </a:rPr>
              <a:t>STAGE A: External Call 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2D2D"/>
                </a:solidFill>
                <a:latin typeface="Calibri"/>
              </a:rPr>
              <a:t>PLT calls: malloc, printf,
socket, bind, ...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1965960"/>
            <a:ext cx="228600" cy="182880"/>
          </a:xfrm>
          <a:prstGeom prst="right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256032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2D2D"/>
                </a:solidFill>
                <a:latin typeface="Calibri"/>
              </a:rPr>
              <a:t>Embed(656, 256) → Bi-GRU
→ c_ext ∈ R^1024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1965960"/>
            <a:ext cx="228600" cy="182880"/>
          </a:xfrm>
          <a:prstGeom prst="right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3017520" cy="50292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g = σ(W[f; c_ext])
z = g⊙f + (1-g)⊙c_ext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82880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99999"/>
                </a:solidFill>
                <a:latin typeface="Calibri"/>
              </a:rPr>
              <a:t>BYPASS: no ext calls
→ z = f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486400" y="2926080"/>
            <a:ext cx="274320" cy="228600"/>
          </a:xfrm>
          <a:prstGeom prst="down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3200400"/>
            <a:ext cx="11612880" cy="132588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2783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897B"/>
                </a:solidFill>
                <a:latin typeface="Calibri"/>
              </a:rPr>
              <a:t>STAGE B: Callee Context 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2D2D"/>
                </a:solidFill>
                <a:latin typeface="Calibri"/>
              </a:rPr>
              <a:t>Token signatures of top-5
internal callees (10 tok each)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80360" y="3657600"/>
            <a:ext cx="228600" cy="182880"/>
          </a:xfrm>
          <a:prstGeom prst="right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3520440"/>
            <a:ext cx="256032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2D2D"/>
                </a:solidFill>
                <a:latin typeface="Calibri"/>
              </a:rPr>
              <a:t>Embed(2279, 128) → Bi-GRU
→ c_callee ∈ R^1024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06440" y="3657600"/>
            <a:ext cx="228600" cy="182880"/>
          </a:xfrm>
          <a:prstGeom prst="right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3520440"/>
            <a:ext cx="3017520" cy="50292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g = σ(W[z; c_callee])
z = g⊙z + (1-g)⊙c_callee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52044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99999"/>
                </a:solidFill>
                <a:latin typeface="Calibri"/>
              </a:rPr>
              <a:t>BYPASS: no callees
→ z unchanged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486400" y="4526280"/>
            <a:ext cx="274320" cy="228600"/>
          </a:xfrm>
          <a:prstGeom prst="down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" y="4800600"/>
            <a:ext cx="11612880" cy="132588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897B"/>
                </a:solidFill>
                <a:latin typeface="Calibri"/>
              </a:rPr>
              <a:t>STAGE C: Caller Context 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2D2D"/>
                </a:solidFill>
                <a:latin typeface="Calibri"/>
              </a:rPr>
              <a:t>Token signatures of top-5
callers (10 tok each)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880360" y="5257800"/>
            <a:ext cx="228600" cy="182880"/>
          </a:xfrm>
          <a:prstGeom prst="right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5120640"/>
            <a:ext cx="256032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D2D2D"/>
                </a:solidFill>
                <a:latin typeface="Calibri"/>
              </a:rPr>
              <a:t>Same arch as callee encoder
→ c_caller ∈ R^1024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806440" y="5257800"/>
            <a:ext cx="228600" cy="182880"/>
          </a:xfrm>
          <a:prstGeom prst="rightArrow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26480" y="5120640"/>
            <a:ext cx="3017520" cy="50292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g = σ(W[z; c_caller])
z = g⊙z + (1-g)⊙c_caller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512064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99999"/>
                </a:solidFill>
                <a:latin typeface="Calibri"/>
              </a:rPr>
              <a:t>BYPASS: no callers
→ z unchanged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62636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z ∈ R^1024 → Decoder / k-NN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621792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2540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3B25"/>
                </a:solidFill>
                <a:latin typeface="Calibri"/>
              </a:rPr>
              <a:t>Conditional bypass is CRITICAL:
Without it, 47% of predictions collapse to a single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D93B25"/>
                </a:solidFill>
                <a:latin typeface="Calibri"/>
              </a:rPr>
              <a:t>Inference: GRU Decoder + k-NN Retrieval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7772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z ∈ R^1024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486400" cy="457200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2540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D93B25"/>
                </a:solidFill>
                <a:latin typeface="Calibri"/>
              </a:rPr>
              <a:t>GRU Decoder (Autoregressive)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4846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h_0 = W_init · z   (initialize hidden state from encoder)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3B25"/>
                </a:solidFill>
                <a:latin typeface="Calibri"/>
              </a:rPr>
              <a:t>Autoregressive generation example: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914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99999"/>
                </a:solidFill>
                <a:latin typeface="Calibri"/>
              </a:rPr>
              <a:t>&lt;SOS&gt;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64208" y="3081528"/>
            <a:ext cx="182880" cy="164592"/>
          </a:xfrm>
          <a:prstGeom prst="rightArrow">
            <a:avLst/>
          </a:prstGeom>
          <a:solidFill>
            <a:srgbClr val="D93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74520" y="2971800"/>
            <a:ext cx="914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3B25"/>
                </a:solidFill>
                <a:latin typeface="Calibri"/>
              </a:rPr>
              <a:t>x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07208" y="3081528"/>
            <a:ext cx="182880" cy="164592"/>
          </a:xfrm>
          <a:prstGeom prst="rightArrow">
            <a:avLst/>
          </a:prstGeom>
          <a:solidFill>
            <a:srgbClr val="D93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2971800"/>
            <a:ext cx="914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3B25"/>
                </a:solidFill>
                <a:latin typeface="Calibri"/>
              </a:rPr>
              <a:t>malloc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50208" y="3081528"/>
            <a:ext cx="182880" cy="164592"/>
          </a:xfrm>
          <a:prstGeom prst="rightArrow">
            <a:avLst/>
          </a:prstGeom>
          <a:solidFill>
            <a:srgbClr val="D93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2971800"/>
            <a:ext cx="914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99999"/>
                </a:solidFill>
                <a:latin typeface="Calibri"/>
              </a:rPr>
              <a:t>&lt;EOS&gt;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D93B25"/>
                </a:solidFill>
                <a:latin typeface="Calibri"/>
              </a:rPr>
              <a:t>→  produces "xmalloc"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48463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D93B25"/>
                </a:solidFill>
                <a:latin typeface="Calibri"/>
              </a:rPr>
              <a:t>Training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Teacher forcing: 1.0 → 0.3 (scheduled)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Votes tokenizer: 2,642 sub-tokens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Label smoothing: 0.1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48463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D93B25"/>
                </a:solidFill>
                <a:latin typeface="Calibri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Beam search k=5 + repetition penalty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Length-normalized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63040"/>
            <a:ext cx="5577840" cy="4572000"/>
          </a:xfrm>
          <a:prstGeom prst="roundRect">
            <a:avLst>
              <a:gd name="adj" fmla="val 10000"/>
            </a:avLst>
          </a:prstGeom>
          <a:solidFill>
            <a:srgbClr val="E8EAF6"/>
          </a:solidFill>
          <a:ln w="2540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5087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303F9F"/>
                </a:solidFill>
                <a:latin typeface="Calibri"/>
              </a:rPr>
              <a:t>k-NN Retrieval (NEW)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96596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Build FAISS index: 87,724 training embeddings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549640" y="2468880"/>
            <a:ext cx="274320" cy="228600"/>
          </a:xfrm>
          <a:prstGeom prst="downArrow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26974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Calibri"/>
              </a:rPr>
              <a:t>Query: cosine similarity → nearest neighbor's name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549640" y="3200400"/>
            <a:ext cx="274320" cy="228600"/>
          </a:xfrm>
          <a:prstGeom prst="downArrow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342900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303F9F"/>
                </a:solidFill>
                <a:latin typeface="Calibri"/>
              </a:rPr>
              <a:t>Key Findings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k=1 is optimal (k&gt;1 majority vote adds noise)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87% of predictions come from k-NN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at threshold t = -0.02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600" b="0" i="0">
                <a:solidFill>
                  <a:srgbClr val="2D2D2D"/>
                </a:solidFill>
                <a:latin typeface="Calibri"/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303F9F"/>
                </a:solidFill>
                <a:latin typeface="Calibri"/>
              </a:rPr>
              <a:t>k-NN outperforms decoder on both test &amp; demo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50292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303F9F"/>
                </a:solidFill>
                <a:latin typeface="Calibri"/>
              </a:rPr>
              <a:t>Improvement over Decoder-Only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Test EM: 74.3% → 76.3% (+2.0pp)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Demo EM: 48.5% → 55.1% (+6.6pp)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303F9F"/>
                </a:solidFill>
                <a:latin typeface="Calibri"/>
              </a:rPr>
              <a:t>No retraining required!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1">
                <a:solidFill>
                  <a:srgbClr val="999999"/>
                </a:solidFill>
                <a:latin typeface="Calibri"/>
              </a:rPr>
              <a:t>The k-NN result confirms our model is a pure recognizer: retrieval outperforms generation because correct predictions are always names seen in training.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8F00"/>
                </a:solidFill>
                <a:latin typeface="Calibri"/>
              </a:rPr>
              <a:t>Self-Supervised Pretraining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5577840" cy="33832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8F00"/>
                </a:solidFill>
                <a:latin typeface="Calibri"/>
              </a:rPr>
              <a:t>Objective 1: Masked Language Model (MLM)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Input: [CALL_malloc, [MASK], ARITH_ADD, [MASK], RETURN]
Mask 15% of instruction tokens randomly</a:t>
            </a:r>
          </a:p>
        </p:txBody>
      </p:sp>
      <p:sp>
        <p:nvSpPr>
          <p:cNvPr id="6" name="Down Arrow 5"/>
          <p:cNvSpPr/>
          <p:nvPr/>
        </p:nvSpPr>
        <p:spPr>
          <a:xfrm>
            <a:off x="2651760" y="1965960"/>
            <a:ext cx="274320" cy="228600"/>
          </a:xfrm>
          <a:prstGeom prst="downArrow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Block Encoder + Graph Encoder → contextualized embeddings</a:t>
            </a:r>
          </a:p>
        </p:txBody>
      </p:sp>
      <p:sp>
        <p:nvSpPr>
          <p:cNvPr id="8" name="Down Arrow 7"/>
          <p:cNvSpPr/>
          <p:nvPr/>
        </p:nvSpPr>
        <p:spPr>
          <a:xfrm>
            <a:off x="2651760" y="2788920"/>
            <a:ext cx="274320" cy="228600"/>
          </a:xfrm>
          <a:prstGeom prst="downArrow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Predict masked tokens: [MASK] → MEM_READ_32, [MASK] → STACK_STORE_64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FF8F00"/>
                </a:solidFill>
                <a:latin typeface="Calibri"/>
              </a:rPr>
              <a:t>Learns token-level representations within CFG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914400"/>
            <a:ext cx="5577840" cy="33832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960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8F00"/>
                </a:solidFill>
                <a:latin typeface="Calibri"/>
              </a:rPr>
              <a:t>Objective 2: Contrastive Learning (NT-Xent)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3716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9D58"/>
                </a:solidFill>
                <a:latin typeface="Calibri"/>
              </a:rPr>
              <a:t>Same function
compiled at O0
f_O0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3716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9D58"/>
                </a:solidFill>
                <a:latin typeface="Calibri"/>
              </a:rPr>
              <a:t>Same function
compiled at O2
f_O2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6002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F9D58"/>
                </a:solidFill>
                <a:latin typeface="Calibri"/>
              </a:rPr>
              <a:t>← pull together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2860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905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3B25"/>
                </a:solidFill>
                <a:latin typeface="Calibri"/>
              </a:rPr>
              <a:t>Different function
f_other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4231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D93B25"/>
                </a:solidFill>
                <a:latin typeface="Calibri"/>
              </a:rPr>
              <a:t>← push apart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2860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905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3B25"/>
                </a:solidFill>
                <a:latin typeface="Calibri"/>
              </a:rPr>
              <a:t>Different function
f_other'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7180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FF8F00"/>
                </a:solidFill>
                <a:latin typeface="Calibri"/>
              </a:rPr>
              <a:t>Learns optimization-level invariance:
O0 and O2 of same function map to similar embeddings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11430000" cy="1645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8F00"/>
                </a:solidFill>
                <a:latin typeface="Calibri"/>
              </a:rPr>
              <a:t>Pretraining → Fine-tuning Transfer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8348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  <a:latin typeface="Calibri"/>
              </a:rPr>
              <a:t>Embedding Transfer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84.4% of token embeddings copied by matching token names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999999"/>
                </a:solidFill>
                <a:latin typeface="Calibri"/>
              </a:rPr>
              <a:t>(V3 vocab expanded 1,510 → 2,279 between pretrain and fine-tune)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Block encoder + graph encoder weights fully transferred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983480"/>
            <a:ext cx="5486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  <a:latin typeface="Calibri"/>
              </a:rPr>
              <a:t>Pretraining Setup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10 epochs on A100 40GB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Joint MLM + contrastive loss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2D2D2D"/>
                </a:solidFill>
                <a:latin typeface="Calibri"/>
              </a:rPr>
              <a:t>O0/O2 pair sampling via ContrastiveBatchSampler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FF8F00"/>
                </a:solidFill>
                <a:latin typeface="Calibri"/>
              </a:rPr>
              <a:t>Result: +3.4pp demo EM, +0.024 Val F1 over random init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7A7"/>
                </a:solidFill>
                <a:latin typeface="Calibri"/>
              </a:rPr>
              <a:t>Evaluation &amp; Ablation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97A7"/>
                </a:solidFill>
                <a:latin typeface="Calibri"/>
              </a:rPr>
              <a:t>Ablation Study (Incremental)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377440"/>
                <a:gridCol w="914400"/>
                <a:gridCol w="914400"/>
                <a:gridCol w="91440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Model Configuration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Test F1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Demo EM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GAT + GRU Decoder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4.4M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0.606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+ External Call Encoder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6.1M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D93B25"/>
                          </a:solidFill>
                          <a:latin typeface="Calibri"/>
                        </a:rPr>
                        <a:t>19.8%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+ Callee/Caller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8.0M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+ Pretrain + Scale (25M)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25M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48.5%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303F9F"/>
                          </a:solidFill>
                          <a:latin typeface="Calibri"/>
                        </a:rPr>
                        <a:t>5+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303F9F"/>
                          </a:solidFill>
                          <a:latin typeface="Calibri"/>
                        </a:rPr>
                        <a:t>+ k-NN Hybrid Retrieval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303F9F"/>
                          </a:solidFill>
                          <a:latin typeface="Calibri"/>
                        </a:rPr>
                        <a:t>25M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303F9F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303F9F"/>
                          </a:solidFill>
                          <a:latin typeface="Calibri"/>
                        </a:rPr>
                        <a:t>55.1%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097A7"/>
                          </a:solidFill>
                          <a:latin typeface="Calibri"/>
                        </a:rPr>
                        <a:t>Δ (full pipeline vs baseline)</a:t>
                      </a:r>
                    </a:p>
                  </a:txBody>
                  <a:tcPr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097A7"/>
                          </a:solidFill>
                          <a:latin typeface="Calibri"/>
                        </a:rPr>
                        <a:t>+0.198</a:t>
                      </a:r>
                    </a:p>
                  </a:txBody>
                  <a:tcPr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097A7"/>
                          </a:solidFill>
                          <a:latin typeface="Calibri"/>
                        </a:rPr>
                        <a:t>+31.0pp</a:t>
                      </a:r>
                    </a:p>
                  </a:txBody>
                  <a:tcPr>
                    <a:solidFill>
                      <a:srgbClr val="E0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343400"/>
            <a:ext cx="6858000" cy="68580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25400">
            <a:solidFill>
              <a:srgbClr val="D93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4389120"/>
            <a:ext cx="6583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D93B25"/>
                </a:solidFill>
                <a:latin typeface="Calibri"/>
              </a:rPr>
              <a:t>Ext-Call Paradox: Model 3 demo EM DROPS -4.3pp despite +0.077 test F1 gain.
External calls alone cause overfitting to library patterns. Callee/caller context resolves this (+12.8pp).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8686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97A7"/>
                </a:solidFill>
                <a:latin typeface="Calibri"/>
              </a:rPr>
              <a:t>Evaluation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80160"/>
            <a:ext cx="4389120" cy="64008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190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19" y="1298448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Sub-token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15087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2D2D2D"/>
                </a:solidFill>
                <a:latin typeface="Calibri"/>
              </a:rPr>
              <a:t>Precision/recall on predicted
sub-tokens vs ground truth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993392"/>
            <a:ext cx="4389120" cy="64008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190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2011680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Exact Match (EM)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2221992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2D2D2D"/>
                </a:solidFill>
                <a:latin typeface="Calibri"/>
              </a:rPr>
              <a:t>Fraction of functions where
prediction = ground truth exactly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706624"/>
            <a:ext cx="4389120" cy="64008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190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2724912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Edit Similarity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935224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2D2D2D"/>
                </a:solidFill>
                <a:latin typeface="Calibri"/>
              </a:rPr>
              <a:t>1 - (edit_distance / max_len)
between prediction and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419856"/>
            <a:ext cx="4389120" cy="64008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190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3438144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N-gram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3648456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2D2D2D"/>
                </a:solidFill>
                <a:latin typeface="Calibri"/>
              </a:rPr>
              <a:t>Overlap of character n-grams
between prediction and truth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7024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Per-Package Demo EM (Top 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4590288"/>
            <a:ext cx="2512771" cy="2286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63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799" y="45720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7A7"/>
                </a:solidFill>
                <a:latin typeface="Calibri"/>
              </a:rPr>
              <a:t>texinfo: 91.6%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864608"/>
            <a:ext cx="1879092" cy="2286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63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799" y="48463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7A7"/>
                </a:solidFill>
                <a:latin typeface="Calibri"/>
              </a:rPr>
              <a:t>diffutils: 68.5%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5138928"/>
            <a:ext cx="1788566" cy="2286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63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799" y="51206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7A7"/>
                </a:solidFill>
                <a:latin typeface="Calibri"/>
              </a:rPr>
              <a:t>acct: 65.2%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5413248"/>
            <a:ext cx="1648663" cy="2286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63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799" y="53949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7A7"/>
                </a:solidFill>
                <a:latin typeface="Calibri"/>
              </a:rPr>
              <a:t>direvent: 60.1%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5687568"/>
            <a:ext cx="1602028" cy="2286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63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799" y="56692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7A7"/>
                </a:solidFill>
                <a:latin typeface="Calibri"/>
              </a:rPr>
              <a:t>rush: 58.4%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943600"/>
            <a:ext cx="11612880" cy="59436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254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097A7"/>
                </a:solidFill>
                <a:latin typeface="Calibri"/>
              </a:rPr>
              <a:t>Key Insight: The model is a pure recognizer — 0/1,873 unseen function names correctly predicted. All correct predictions are names seen in training (shared gnulib functions). k-NN retrieval confirms and exploits this property for +6.6pp demo 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