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6400800" cy="3657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" y="201168"/>
            <a:ext cx="1920240" cy="269748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63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376" y="226568"/>
            <a:ext cx="1818640" cy="1270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6B7280"/>
                </a:solidFill>
                <a:latin typeface="Calibri"/>
              </a:rPr>
              <a:t>Phase 1: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29968" y="201168"/>
            <a:ext cx="2788920" cy="269748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63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80768" y="226568"/>
            <a:ext cx="2687320" cy="1270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2563EB"/>
                </a:solidFill>
                <a:latin typeface="Calibri"/>
              </a:rPr>
              <a:t>Phase 2: Encoder + Multi-Context 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01168"/>
            <a:ext cx="1417320" cy="269748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63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42840" y="226568"/>
            <a:ext cx="1315720" cy="1270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6A34A"/>
                </a:solidFill>
                <a:latin typeface="Calibri"/>
              </a:rPr>
              <a:t>Phase 3: Inference &amp;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" y="1280160"/>
            <a:ext cx="338328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Source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Packages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280160"/>
            <a:ext cx="338328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Compile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(O0, O2)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280160"/>
            <a:ext cx="338328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BAP 2.5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IR Lifting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6152" y="1280160"/>
            <a:ext cx="338328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V3 Tokenize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1,510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91056" y="1280160"/>
            <a:ext cx="338328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CFG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Labels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nm matching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" y="1472184"/>
            <a:ext cx="36576" cy="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4672" y="1472184"/>
            <a:ext cx="36576" cy="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79576" y="1472184"/>
            <a:ext cx="36576" cy="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54480" y="1472184"/>
            <a:ext cx="36576" cy="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21408" y="1234440"/>
            <a:ext cx="53035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Block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Transformer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4L, 8H, 256d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15768" y="1234440"/>
            <a:ext cx="53035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Graph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GAT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3L, 8H, 1024d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29384" y="1472184"/>
            <a:ext cx="192024" cy="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03984" y="1319784"/>
            <a:ext cx="256032" cy="1270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6B7280"/>
                </a:solidFill>
                <a:latin typeface="Calibri"/>
              </a:rPr>
              <a:t>tokens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6B7280"/>
                </a:solidFill>
                <a:latin typeface="Calibri"/>
              </a:rPr>
              <a:t>+edges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51760" y="1472184"/>
            <a:ext cx="64008" cy="0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64460" y="1357884"/>
            <a:ext cx="137160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2563EB"/>
                </a:solidFill>
                <a:latin typeface="Calibri"/>
              </a:rPr>
              <a:t>b_i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1325880"/>
            <a:ext cx="329184" cy="2926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1F2937"/>
                </a:solidFill>
                <a:latin typeface="Calibri"/>
              </a:rPr>
              <a:t>Gate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12464" y="1325880"/>
            <a:ext cx="329184" cy="2926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1F2937"/>
                </a:solidFill>
                <a:latin typeface="Calibri"/>
              </a:rPr>
              <a:t>Gate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7368" y="1325880"/>
            <a:ext cx="329184" cy="2926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1F2937"/>
                </a:solidFill>
                <a:latin typeface="Calibri"/>
              </a:rPr>
              <a:t>Gate 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46120" y="1472184"/>
            <a:ext cx="91440" cy="0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58820" y="1357884"/>
            <a:ext cx="109728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2563EB"/>
                </a:solidFill>
                <a:latin typeface="Calibri"/>
              </a:rPr>
              <a:t>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66744" y="1472184"/>
            <a:ext cx="45720" cy="0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41648" y="1472184"/>
            <a:ext cx="45720" cy="0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82696" y="886968"/>
            <a:ext cx="438912" cy="329184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Ext Call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BiGRU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886968"/>
            <a:ext cx="438912" cy="329184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Callee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BiGRU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32504" y="886968"/>
            <a:ext cx="438912" cy="329184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Caller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BiGRU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02152" y="1216152"/>
            <a:ext cx="0" cy="109728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77056" y="1216152"/>
            <a:ext cx="0" cy="109728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51960" y="1216152"/>
            <a:ext cx="0" cy="109728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980944" y="1618488"/>
            <a:ext cx="1271016" cy="91440"/>
          </a:xfrm>
          <a:prstGeom prst="line">
            <a:avLst/>
          </a:prstGeom>
          <a:ln w="6350">
            <a:solidFill>
              <a:srgbClr val="6B7280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072384" y="1722628"/>
            <a:ext cx="320040" cy="889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6B7280"/>
                </a:solidFill>
                <a:latin typeface="Calibri"/>
              </a:rPr>
              <a:t>bypass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3480" y="960120"/>
            <a:ext cx="621792" cy="34747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GRU Decoder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beam k=5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1417320"/>
            <a:ext cx="621792" cy="34747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k-NN Retrieval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k=1, cosine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96712" y="1115568"/>
            <a:ext cx="475488" cy="320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Predicted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96712" y="1554480"/>
            <a:ext cx="475488" cy="3657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Metrics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F1, EM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EdSim, NgSim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4416552" y="1133856"/>
            <a:ext cx="566928" cy="338328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416552" y="1472184"/>
            <a:ext cx="566928" cy="118872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29252" y="1357884"/>
            <a:ext cx="109728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6A34A"/>
                </a:solidFill>
                <a:latin typeface="Calibri"/>
              </a:rPr>
              <a:t>z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05272" y="1133856"/>
            <a:ext cx="91440" cy="141732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605272" y="1372108"/>
            <a:ext cx="91440" cy="218948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34456" y="1435608"/>
            <a:ext cx="0" cy="118872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"/>
            <a:ext cx="2286000" cy="1397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563EB"/>
                </a:solidFill>
                <a:latin typeface="Calibri"/>
              </a:rPr>
              <a:t>Block Encoder (per basic block)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" y="201168"/>
            <a:ext cx="548640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Instruction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Tokens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(max 20)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1168"/>
            <a:ext cx="640080" cy="38404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Token Embedding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2,279 x 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3312" y="201168"/>
            <a:ext cx="502920" cy="38404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+ Positional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1096" y="201168"/>
            <a:ext cx="804672" cy="38404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Transformer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4 layers, 8 heads, ff=512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0632" y="201168"/>
            <a:ext cx="475488" cy="38404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Mean Pool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-&gt; 512d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393192"/>
            <a:ext cx="54864" cy="0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98448" y="393192"/>
            <a:ext cx="54864" cy="0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56232" y="393192"/>
            <a:ext cx="54864" cy="0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15768" y="393192"/>
            <a:ext cx="54864" cy="0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3280" y="36576"/>
            <a:ext cx="1645920" cy="1397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563EB"/>
                </a:solidFill>
                <a:latin typeface="Calibri"/>
              </a:rPr>
              <a:t>Graph Encoder (over CFG)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1168"/>
            <a:ext cx="713232" cy="38404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GAT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3L, 8H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512d -&gt; 1024d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201168"/>
            <a:ext cx="566928" cy="38404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Attention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Pooling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-&gt; 1024d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393192"/>
            <a:ext cx="137160" cy="0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71520" y="278892"/>
            <a:ext cx="274320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2563EB"/>
                </a:solidFill>
                <a:latin typeface="Calibri"/>
              </a:rPr>
              <a:t>b_i (512d)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96512" y="393192"/>
            <a:ext cx="54864" cy="0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38728" y="0"/>
            <a:ext cx="402336" cy="1554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CFG Edges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9896" y="155448"/>
            <a:ext cx="0" cy="45720"/>
          </a:xfrm>
          <a:prstGeom prst="line">
            <a:avLst/>
          </a:prstGeom>
          <a:ln w="635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713232"/>
            <a:ext cx="3200400" cy="1397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6A34A"/>
                </a:solidFill>
                <a:latin typeface="Calibri"/>
              </a:rPr>
              <a:t>Cascaded Gated Fusion (conditional bypass per stage)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896112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1F2937"/>
                </a:solidFill>
                <a:latin typeface="Calibri"/>
              </a:rPr>
              <a:t>Gate 1: External Calls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 = s(W[f;c_ext])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z = g*f + (1-g)*c_ext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896112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1F2937"/>
                </a:solidFill>
                <a:latin typeface="Calibri"/>
              </a:rPr>
              <a:t>Gate 2: Callee 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 = s(W[z;c_callee])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z = g*z + (1-g)*c_callee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896112"/>
            <a:ext cx="1645920" cy="4572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1F2937"/>
                </a:solidFill>
                <a:latin typeface="Calibri"/>
              </a:rPr>
              <a:t>Gate 3: Caller 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 = s(W[z;c_caller])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z = g*z + (1-g)*c_caller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34840" y="585216"/>
            <a:ext cx="914400" cy="310896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72940" y="585216"/>
            <a:ext cx="320040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1">
                <a:solidFill>
                  <a:srgbClr val="2563EB"/>
                </a:solidFill>
                <a:latin typeface="Calibri"/>
              </a:rPr>
              <a:t>f (1024d)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389120" y="1124712"/>
            <a:ext cx="137160" cy="0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606040" y="1124712"/>
            <a:ext cx="137160" cy="0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23620" y="585216"/>
            <a:ext cx="3127756" cy="310896"/>
          </a:xfrm>
          <a:prstGeom prst="line">
            <a:avLst/>
          </a:prstGeom>
          <a:ln w="6350">
            <a:solidFill>
              <a:srgbClr val="6B7280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769112"/>
            <a:ext cx="411480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6B7280"/>
                </a:solidFill>
                <a:latin typeface="Calibri"/>
              </a:rPr>
              <a:t>bypass (no context)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40580" y="1444752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Ext Call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Emb(656,256) -&gt; BiGRU -&gt; 1024d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7500" y="1444752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Callee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Emb(2279,128) -&gt; BiGRU -&gt; 1024d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4420" y="1444752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Caller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Emb(2279,128) -&gt; BiGRU -&gt; 1024d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349240" y="1353312"/>
            <a:ext cx="0" cy="91440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566160" y="1353312"/>
            <a:ext cx="0" cy="91440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783080" y="1353312"/>
            <a:ext cx="0" cy="91440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800600" y="182880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PLT names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malloc, printf, 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182880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Callee token sigs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top 5 x 10 tokens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" y="182880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Caller token sigs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top 5 x 10 tokens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5349240" y="1773936"/>
            <a:ext cx="0" cy="54864"/>
          </a:xfrm>
          <a:prstGeom prst="line">
            <a:avLst/>
          </a:prstGeom>
          <a:ln w="508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566160" y="1773936"/>
            <a:ext cx="0" cy="54864"/>
          </a:xfrm>
          <a:prstGeom prst="line">
            <a:avLst/>
          </a:prstGeom>
          <a:ln w="508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783080" y="1773936"/>
            <a:ext cx="0" cy="54864"/>
          </a:xfrm>
          <a:prstGeom prst="line">
            <a:avLst/>
          </a:prstGeom>
          <a:ln w="508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4864" y="2487168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GRU Decoder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1024 hidden, 1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Votes vocab 2,642, beam k=5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2487168"/>
            <a:ext cx="1143000" cy="43891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k-NN Retrieval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cosine sim, k=1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87K training index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017520"/>
            <a:ext cx="777240" cy="25603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F2937"/>
                </a:solidFill>
                <a:latin typeface="Calibri"/>
              </a:rPr>
              <a:t>Function Name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60120" y="1353312"/>
            <a:ext cx="329184" cy="1133856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0120" y="1353312"/>
            <a:ext cx="411480" cy="1133856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50392" y="1327912"/>
            <a:ext cx="137160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6A34A"/>
                </a:solidFill>
                <a:latin typeface="Calibri"/>
              </a:rPr>
              <a:t>z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2084" y="2926080"/>
            <a:ext cx="173736" cy="9144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234440" y="2926080"/>
            <a:ext cx="708660" cy="9144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914400"/>
            <a:ext cx="749808" cy="347472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Calibri"/>
              </a:rPr>
              <a:t>Block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Calibri"/>
              </a:rPr>
              <a:t>Transformer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08760" y="914400"/>
            <a:ext cx="749808" cy="347472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Calibri"/>
              </a:rPr>
              <a:t>Graph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Calibri"/>
              </a:rPr>
              <a:t>GAT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07008" y="1088136"/>
            <a:ext cx="301752" cy="0"/>
          </a:xfrm>
          <a:prstGeom prst="line">
            <a:avLst/>
          </a:prstGeom>
          <a:ln w="9525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45108" y="973836"/>
            <a:ext cx="164592" cy="101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2563EB"/>
                </a:solidFill>
                <a:latin typeface="Calibri"/>
              </a:rPr>
              <a:t>b_i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"/>
            <a:ext cx="1097280" cy="1270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C3AED"/>
                </a:solidFill>
                <a:latin typeface="Calibri"/>
              </a:rPr>
              <a:t>Objective 1: MLM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Masked Tokens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15% masked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82880"/>
            <a:ext cx="822960" cy="292608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MLM Head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predict masked tokens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" y="475488"/>
            <a:ext cx="274320" cy="438912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70508" y="329184"/>
            <a:ext cx="192532" cy="623316"/>
          </a:xfrm>
          <a:prstGeom prst="line">
            <a:avLst/>
          </a:prstGeom>
          <a:ln w="7620">
            <a:solidFill>
              <a:srgbClr val="7C3A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30808" y="800100"/>
            <a:ext cx="365760" cy="889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7C3AED"/>
                </a:solidFill>
                <a:latin typeface="Calibri"/>
              </a:rPr>
              <a:t>token embs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47088"/>
            <a:ext cx="1371600" cy="1270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C3AED"/>
                </a:solidFill>
                <a:latin typeface="Calibri"/>
              </a:rPr>
              <a:t>Objective 2: Contrastive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" y="1444752"/>
            <a:ext cx="475488" cy="274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Function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(O0)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444752"/>
            <a:ext cx="475488" cy="274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Function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(O2)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53312" y="1399032"/>
            <a:ext cx="960120" cy="36576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NT-Xent Loss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pull O0/O2 together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push diff funcs apart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02336" y="1261872"/>
            <a:ext cx="118364" cy="18288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50976" y="1261872"/>
            <a:ext cx="192532" cy="182880"/>
          </a:xfrm>
          <a:prstGeom prst="line">
            <a:avLst/>
          </a:prstGeom>
          <a:ln w="762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53312" y="1261872"/>
            <a:ext cx="530352" cy="320040"/>
          </a:xfrm>
          <a:prstGeom prst="line">
            <a:avLst/>
          </a:prstGeom>
          <a:ln w="7620">
            <a:solidFill>
              <a:srgbClr val="7C3A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21764" y="1236472"/>
            <a:ext cx="109728" cy="889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2563EB"/>
                </a:solidFill>
                <a:latin typeface="Calibri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841248"/>
            <a:ext cx="59436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After pretraining: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84.4% embeddings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transferred 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full 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58568" y="1088136"/>
            <a:ext cx="137160" cy="0"/>
          </a:xfrm>
          <a:prstGeom prst="line">
            <a:avLst/>
          </a:prstGeom>
          <a:ln w="6350">
            <a:solidFill>
              <a:srgbClr val="6B7280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"/>
            <a:ext cx="1188720" cy="237744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1F2937"/>
                </a:solidFill>
                <a:latin typeface="Calibri"/>
              </a:rPr>
              <a:t>f ∈ R^1024 (from Graph Encoder)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02336"/>
            <a:ext cx="1389888" cy="438912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F2937"/>
                </a:solidFill>
                <a:latin typeface="Calibri"/>
              </a:rPr>
              <a:t>Gate 1: External Calls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g = σ(W[z;c_ext])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z = g⊙f + (1-g)⊙c_ext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50008" y="420624"/>
            <a:ext cx="822960" cy="3657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Ext Call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Emb(656,256)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→ BiGRU → 1024d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0008" y="804672"/>
            <a:ext cx="822960" cy="2926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PLT names: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malloc, printf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socket, bind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761488" y="786384"/>
            <a:ext cx="0" cy="18288"/>
          </a:xfrm>
          <a:prstGeom prst="line">
            <a:avLst/>
          </a:prstGeom>
          <a:ln w="508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304288" y="603504"/>
            <a:ext cx="45720" cy="18288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288" y="512064"/>
            <a:ext cx="475488" cy="1828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bypass if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no ext calls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493776" y="603504"/>
            <a:ext cx="420624" cy="18288"/>
          </a:xfrm>
          <a:prstGeom prst="line">
            <a:avLst/>
          </a:prstGeom>
          <a:ln w="6350">
            <a:solidFill>
              <a:srgbClr val="DC2626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08760" y="292608"/>
            <a:ext cx="100584" cy="109728"/>
          </a:xfrm>
          <a:prstGeom prst="line">
            <a:avLst/>
          </a:prstGeom>
          <a:ln w="762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46860" y="279908"/>
            <a:ext cx="201168" cy="889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2563EB"/>
                </a:solidFill>
                <a:latin typeface="Calibri"/>
              </a:rPr>
              <a:t>z =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950976"/>
            <a:ext cx="1389888" cy="438912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F2937"/>
                </a:solidFill>
                <a:latin typeface="Calibri"/>
              </a:rPr>
              <a:t>Gate 2: Callee 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g = σ(W[z;c_callee])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z = g⊙z + (1-g)⊙c_callee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969264"/>
            <a:ext cx="822960" cy="3657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Callee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Emb(2279,128)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→ BiGRU → 1024d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0008" y="1353312"/>
            <a:ext cx="822960" cy="2926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Callee token sigs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top 5 callees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× 10 tokens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61488" y="1335024"/>
            <a:ext cx="0" cy="18288"/>
          </a:xfrm>
          <a:prstGeom prst="line">
            <a:avLst/>
          </a:prstGeom>
          <a:ln w="508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04288" y="1152144"/>
            <a:ext cx="45720" cy="18288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288" y="1060704"/>
            <a:ext cx="475488" cy="1828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bypass if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no callees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493776" y="1152144"/>
            <a:ext cx="420624" cy="18288"/>
          </a:xfrm>
          <a:prstGeom prst="line">
            <a:avLst/>
          </a:prstGeom>
          <a:ln w="6350">
            <a:solidFill>
              <a:srgbClr val="DC2626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09344" y="841248"/>
            <a:ext cx="0" cy="109728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1499616"/>
            <a:ext cx="1389888" cy="438912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F2937"/>
                </a:solidFill>
                <a:latin typeface="Calibri"/>
              </a:rPr>
              <a:t>Gate 3: Caller 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g = σ(W[z;c_caller])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1F2937"/>
                </a:solidFill>
                <a:latin typeface="Calibri"/>
              </a:rPr>
              <a:t>z = g⊙z + (1-g)⊙c_caller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0008" y="1517904"/>
            <a:ext cx="822960" cy="3657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Caller 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Emb(2279,128)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>
                <a:solidFill>
                  <a:srgbClr val="1F2937"/>
                </a:solidFill>
                <a:latin typeface="Calibri"/>
              </a:rPr>
              <a:t>→ BiGRU → 1024d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0008" y="1901952"/>
            <a:ext cx="822960" cy="2926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Caller token sigs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top 5 callers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" b="0">
                <a:solidFill>
                  <a:srgbClr val="1F2937"/>
                </a:solidFill>
                <a:latin typeface="Calibri"/>
              </a:rPr>
              <a:t>× 10 tokens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761488" y="1883664"/>
            <a:ext cx="0" cy="18288"/>
          </a:xfrm>
          <a:prstGeom prst="line">
            <a:avLst/>
          </a:prstGeom>
          <a:ln w="508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304288" y="1700784"/>
            <a:ext cx="45720" cy="18288"/>
          </a:xfrm>
          <a:prstGeom prst="line">
            <a:avLst/>
          </a:prstGeom>
          <a:ln w="7620">
            <a:solidFill>
              <a:srgbClr val="EA580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288" y="1609344"/>
            <a:ext cx="475488" cy="1828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bypass if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F2937"/>
                </a:solidFill>
                <a:latin typeface="Calibri"/>
              </a:rPr>
              <a:t>no callers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493776" y="1700784"/>
            <a:ext cx="420624" cy="18288"/>
          </a:xfrm>
          <a:prstGeom prst="line">
            <a:avLst/>
          </a:prstGeom>
          <a:ln w="6350">
            <a:solidFill>
              <a:srgbClr val="DC2626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09344" y="1389888"/>
            <a:ext cx="0" cy="109728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2066544"/>
            <a:ext cx="1389888" cy="237744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1F2937"/>
                </a:solidFill>
                <a:latin typeface="Calibri"/>
              </a:rPr>
              <a:t>z ∈ R^1024 → Decoder / k-NN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09344" y="1938528"/>
            <a:ext cx="0" cy="128016"/>
          </a:xfrm>
          <a:prstGeom prst="line">
            <a:avLst/>
          </a:prstGeom>
          <a:ln w="762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